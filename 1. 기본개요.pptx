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7845" autoAdjust="0"/>
  </p:normalViewPr>
  <p:slideViewPr>
    <p:cSldViewPr snapToGrid="0">
      <p:cViewPr varScale="1">
        <p:scale>
          <a:sx n="86" d="100"/>
          <a:sy n="86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CBCAF-CDCC-40DC-A94D-F18284968AE4}" type="datetimeFigureOut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9EC090-4DE2-4F86-93E6-736D74147A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312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EC090-4DE2-4F86-93E6-736D74147A5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9573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샤일로</a:t>
            </a:r>
            <a:r>
              <a:rPr lang="ko-KR" altLang="en-US" dirty="0"/>
              <a:t> 법칙</a:t>
            </a:r>
            <a:r>
              <a:rPr lang="en-US" altLang="ko-KR" dirty="0"/>
              <a:t>: </a:t>
            </a:r>
            <a:r>
              <a:rPr lang="ko-KR" altLang="en-US" dirty="0"/>
              <a:t>외부와 단절</a:t>
            </a:r>
            <a:r>
              <a:rPr lang="en-US" altLang="ko-KR" dirty="0"/>
              <a:t>, </a:t>
            </a:r>
            <a:r>
              <a:rPr lang="ko-KR" altLang="en-US" dirty="0"/>
              <a:t>독립적</a:t>
            </a:r>
            <a:r>
              <a:rPr lang="en-US" altLang="ko-KR" dirty="0"/>
              <a:t>, </a:t>
            </a:r>
            <a:r>
              <a:rPr lang="ko-KR" altLang="en-US" dirty="0"/>
              <a:t>불필요한 업무 하고</a:t>
            </a:r>
            <a:r>
              <a:rPr lang="en-US" altLang="ko-KR" dirty="0"/>
              <a:t>, </a:t>
            </a:r>
            <a:r>
              <a:rPr lang="ko-KR" altLang="en-US" dirty="0"/>
              <a:t>비효율적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EC090-4DE2-4F86-93E6-736D74147A5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183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51</a:t>
            </a:r>
            <a:r>
              <a:rPr lang="ko-KR" altLang="en-US" dirty="0"/>
              <a:t>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EC090-4DE2-4F86-93E6-736D74147A5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651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FE6A68-8193-48A0-AD26-DDCB8B64B4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87937C-36E8-455B-B6F8-05FC64D29D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C17193-C76F-4D8C-B3B9-54BC853B3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2C5B-4BB3-4C8D-9A66-562C8A88C73A}" type="datetimeFigureOut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6D0D61-B500-4ACE-BEDF-BD893F8B0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FFBEB3-2E4F-4DA2-A66B-0EB14A5E9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F86AD-92A1-495D-8C39-93CE9836B0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0636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015636-A9E3-4B9F-8B1D-66D3E3C46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880B27-A0D1-4DA6-B5A6-32DDFD8451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E46B4D-8AE9-4668-9BA5-C36D36CF8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2C5B-4BB3-4C8D-9A66-562C8A88C73A}" type="datetimeFigureOut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57BEA8-75F4-4BA3-8B30-9C48A0F41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71C09F-F928-4D21-8235-D25347798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F86AD-92A1-495D-8C39-93CE9836B0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5987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C425C6-4654-4FA2-BEC9-376BE23B2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7F0458-5655-4A8A-B130-796EBC929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A7F9F0-A9FE-451E-B5DB-F632552E0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2C5B-4BB3-4C8D-9A66-562C8A88C73A}" type="datetimeFigureOut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C44E51-CE0E-40DE-9907-1309F3563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69C80D-3719-448D-B1BD-3D4B2A191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F86AD-92A1-495D-8C39-93CE9836B0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5003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46484D-8AAC-45F2-A638-73E9A5BDC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87D7F4-6C41-4CD0-B503-AA5EDD07F0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E85506-4E64-481F-B0A7-E460074620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8A94139-5ADA-4B04-8A8D-41C286F81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2C5B-4BB3-4C8D-9A66-562C8A88C73A}" type="datetimeFigureOut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1FB975-E13D-4A09-9AA5-E24317B5D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E10693-5A4C-4017-9341-F9FD744B6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F86AD-92A1-495D-8C39-93CE9836B0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1703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63955D-26A1-4976-B3F6-28D8D1208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D4E969-340F-4AE6-B10D-01D6FA0A6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5EE3D0-7C05-43BC-BC44-84A2A56455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B901B4-C221-4B96-BB32-58ED0BD3FD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E85027B-8EE4-4943-9BF9-F549CAD0FB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51487D2-01EE-4E8A-8F93-3E3E0B57F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2C5B-4BB3-4C8D-9A66-562C8A88C73A}" type="datetimeFigureOut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FAB127A-7BC4-4502-A5BF-61035D353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2B4F4F1-1541-4062-B1F3-85CBE59E8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F86AD-92A1-495D-8C39-93CE9836B0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487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372D89-996D-4293-A680-E7FFA719F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A83405-6E93-4487-B8D7-BEA9D0DB6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2C5B-4BB3-4C8D-9A66-562C8A88C73A}" type="datetimeFigureOut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51D0FB9-E5D1-4FF2-B71C-1679CA370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39CBBF4-BECC-4CCD-90C9-511C929CD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F86AD-92A1-495D-8C39-93CE9836B0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875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4CA246B-4867-4825-B06B-DE91FE75B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2C5B-4BB3-4C8D-9A66-562C8A88C73A}" type="datetimeFigureOut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6D61C01-A4A9-40D3-BD54-7A7F90546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BC848C-62FE-428D-8296-BAFF32B27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F86AD-92A1-495D-8C39-93CE9836B0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0497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BCD5B9-8FB1-4B35-9ABB-AE3B59791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5B2C30-60B1-4542-997B-6E3C493E9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8CFC48-7AA6-45B8-B73E-42C817371E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D7165F-0571-44D4-8356-9A7E26618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2C5B-4BB3-4C8D-9A66-562C8A88C73A}" type="datetimeFigureOut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97B956-9B24-4A1B-8553-1CAAFF971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830D1F-CCB3-41F7-B68C-CFFD3C33C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F86AD-92A1-495D-8C39-93CE9836B0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771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3272E0-2BDE-4753-9FD0-18376E095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EE13A23-40A0-440E-A413-BCD34AC479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896C11E-DBB4-4A9D-BE13-DBB8CDF948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3A53DB-28C9-4DC4-B44D-7DE206756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2C5B-4BB3-4C8D-9A66-562C8A88C73A}" type="datetimeFigureOut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1DDE553-071A-4C5A-98AB-6E445B60E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DD1A2D-9AEF-422A-82CB-75ABBF94E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F86AD-92A1-495D-8C39-93CE9836B0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313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AC155E-3369-4333-AB60-5D706C0E6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777D613-69CE-49A4-B318-B312FDA73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0BD011-4E33-4766-B6AC-EF4B6D236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2C5B-4BB3-4C8D-9A66-562C8A88C73A}" type="datetimeFigureOut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89F44D-3F91-4B17-9C16-E9F0D5A02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E79BB5-8E50-410D-9EAC-6045D1D4D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F86AD-92A1-495D-8C39-93CE9836B0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5913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1E9A34A-2C71-45C0-A5D8-5CE5BC192E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D54A5D-FDE7-479E-AB20-E83B4F60B1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B364B4-DCDB-4264-B5EF-38E81C710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2C5B-4BB3-4C8D-9A66-562C8A88C73A}" type="datetimeFigureOut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C013AD-3683-4884-92D3-834D16A60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6DB0E1-2821-4188-8C59-6C5402FE7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F86AD-92A1-495D-8C39-93CE9836B0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164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E7F709F-F28D-461B-BF5D-475EB1E15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086D66-8A8D-41DF-9BA3-32D4E25C0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D40169-CBE7-4A04-9451-DD86D24B4B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882C5B-4BB3-4C8D-9A66-562C8A88C73A}" type="datetimeFigureOut">
              <a:rPr lang="ko-KR" altLang="en-US" smtClean="0"/>
              <a:t>2020-04-15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391A04-547D-4F8A-9C5D-E7D098B54A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6D7F6A-6439-4D66-9358-B68C2C5A6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F86AD-92A1-495D-8C39-93CE9836B0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391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22E394-0EF5-4376-89B2-8B8FA54BF0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통합정보자원관리를 위한 </a:t>
            </a:r>
            <a:r>
              <a:rPr lang="en-US" altLang="ko-KR" dirty="0"/>
              <a:t>ERP </a:t>
            </a:r>
            <a:r>
              <a:rPr lang="ko-KR" altLang="en-US" dirty="0"/>
              <a:t>시스템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7409FDB-0FC7-44A7-AE7D-57EF7A3354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897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6D8BB4-EA75-4D29-8790-85EEA864D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ERP</a:t>
            </a:r>
            <a:r>
              <a:rPr lang="ko-KR" altLang="en-US" dirty="0"/>
              <a:t> 시스템 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534E34-24AA-4AF6-A6E2-179750B76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ERP</a:t>
            </a:r>
            <a:r>
              <a:rPr lang="ko-KR" altLang="en-US" dirty="0"/>
              <a:t> </a:t>
            </a:r>
            <a:r>
              <a:rPr lang="en-US" altLang="ko-KR" dirty="0"/>
              <a:t>(Enterprise resource planning) </a:t>
            </a:r>
            <a:r>
              <a:rPr lang="ko-KR" altLang="en-US" dirty="0"/>
              <a:t>시스템</a:t>
            </a:r>
            <a:r>
              <a:rPr lang="en-US" altLang="ko-KR" dirty="0"/>
              <a:t>: </a:t>
            </a:r>
            <a:r>
              <a:rPr lang="ko-KR" altLang="en-US" dirty="0"/>
              <a:t>기업 전체의 요구사항을 지원하는 하나의 완전한 정보시스템으로 기업의 모든 데이터를 통합관리</a:t>
            </a:r>
            <a:endParaRPr lang="en-US" altLang="ko-KR" dirty="0"/>
          </a:p>
          <a:p>
            <a:r>
              <a:rPr lang="en-US" altLang="ko-KR" dirty="0"/>
              <a:t>ERP</a:t>
            </a:r>
            <a:r>
              <a:rPr lang="ko-KR" altLang="en-US" dirty="0"/>
              <a:t>시스템은 과거에 이용하던 레거시 시스템 뿐만 아니라</a:t>
            </a:r>
            <a:r>
              <a:rPr lang="en-US" altLang="ko-KR" dirty="0"/>
              <a:t>, </a:t>
            </a:r>
            <a:r>
              <a:rPr lang="ko-KR" altLang="en-US" dirty="0"/>
              <a:t>개별적으로 존재하는 시스템을 지원해 줄 뿐만 아니라</a:t>
            </a:r>
            <a:r>
              <a:rPr lang="en-US" altLang="ko-KR" dirty="0"/>
              <a:t>, </a:t>
            </a:r>
            <a:r>
              <a:rPr lang="ko-KR" altLang="en-US" dirty="0"/>
              <a:t>기업 내 핵심 업무인 구매</a:t>
            </a:r>
            <a:r>
              <a:rPr lang="en-US" altLang="ko-KR" dirty="0"/>
              <a:t>, </a:t>
            </a:r>
            <a:r>
              <a:rPr lang="ko-KR" altLang="en-US" dirty="0"/>
              <a:t>회계</a:t>
            </a:r>
            <a:r>
              <a:rPr lang="en-US" altLang="ko-KR" dirty="0"/>
              <a:t>, </a:t>
            </a:r>
            <a:r>
              <a:rPr lang="ko-KR" altLang="en-US" dirty="0"/>
              <a:t>제조</a:t>
            </a:r>
            <a:r>
              <a:rPr lang="en-US" altLang="ko-KR" dirty="0"/>
              <a:t>, </a:t>
            </a:r>
            <a:r>
              <a:rPr lang="ko-KR" altLang="en-US" dirty="0"/>
              <a:t>판매 등의 업무를 효과적으로 지원할 수 있도록 하나의 통합된 시스템으로 설계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54690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9C1DD6-E5D5-49C8-8DEB-001AE6921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CBD634-321C-40AF-B1B8-CFF37DFE3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156E53A-3F07-4B8E-A0E5-E05C3CEF0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69" y="365125"/>
            <a:ext cx="10717462" cy="60915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FC724B-6081-43C6-BB5A-3A17F5723939}"/>
              </a:ext>
            </a:extLst>
          </p:cNvPr>
          <p:cNvSpPr txBox="1"/>
          <p:nvPr/>
        </p:nvSpPr>
        <p:spPr>
          <a:xfrm>
            <a:off x="221942" y="3844031"/>
            <a:ext cx="28586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00B050"/>
                </a:solidFill>
              </a:rPr>
              <a:t>노무력</a:t>
            </a:r>
            <a:r>
              <a:rPr lang="en-US" altLang="ko-KR" sz="1600" dirty="0">
                <a:solidFill>
                  <a:srgbClr val="00B050"/>
                </a:solidFill>
              </a:rPr>
              <a:t>, </a:t>
            </a:r>
            <a:r>
              <a:rPr lang="ko-KR" altLang="en-US" sz="1600" dirty="0">
                <a:solidFill>
                  <a:srgbClr val="00B050"/>
                </a:solidFill>
              </a:rPr>
              <a:t>원자재</a:t>
            </a:r>
            <a:r>
              <a:rPr lang="en-US" altLang="ko-KR" sz="1600" dirty="0">
                <a:solidFill>
                  <a:srgbClr val="00B050"/>
                </a:solidFill>
              </a:rPr>
              <a:t> : </a:t>
            </a:r>
            <a:r>
              <a:rPr lang="ko-KR" altLang="en-US" sz="1600" dirty="0">
                <a:solidFill>
                  <a:srgbClr val="00B050"/>
                </a:solidFill>
              </a:rPr>
              <a:t>정비례 </a:t>
            </a:r>
            <a:r>
              <a:rPr lang="en-US" altLang="ko-KR" sz="1600" dirty="0">
                <a:solidFill>
                  <a:srgbClr val="FF0000"/>
                </a:solidFill>
              </a:rPr>
              <a:t>A</a:t>
            </a:r>
          </a:p>
          <a:p>
            <a:r>
              <a:rPr lang="ko-KR" altLang="en-US" sz="1600" dirty="0" err="1">
                <a:solidFill>
                  <a:srgbClr val="00B050"/>
                </a:solidFill>
              </a:rPr>
              <a:t>대지비</a:t>
            </a:r>
            <a:r>
              <a:rPr lang="en-US" altLang="ko-KR" sz="1600" dirty="0">
                <a:solidFill>
                  <a:srgbClr val="00B050"/>
                </a:solidFill>
              </a:rPr>
              <a:t>, </a:t>
            </a:r>
            <a:r>
              <a:rPr lang="ko-KR" altLang="en-US" sz="1600" dirty="0">
                <a:solidFill>
                  <a:srgbClr val="00B050"/>
                </a:solidFill>
              </a:rPr>
              <a:t>감가삼각비</a:t>
            </a:r>
            <a:r>
              <a:rPr lang="en-US" altLang="ko-KR" sz="1600" dirty="0">
                <a:solidFill>
                  <a:srgbClr val="00B050"/>
                </a:solidFill>
              </a:rPr>
              <a:t>, </a:t>
            </a:r>
            <a:r>
              <a:rPr lang="ko-KR" altLang="en-US" sz="1600" dirty="0">
                <a:solidFill>
                  <a:srgbClr val="00B050"/>
                </a:solidFill>
              </a:rPr>
              <a:t>기본이자</a:t>
            </a:r>
            <a:r>
              <a:rPr lang="en-US" altLang="ko-KR" sz="1600" dirty="0">
                <a:solidFill>
                  <a:srgbClr val="00B050"/>
                </a:solidFill>
              </a:rPr>
              <a:t>: </a:t>
            </a:r>
            <a:r>
              <a:rPr lang="ko-KR" altLang="en-US" sz="1600" dirty="0">
                <a:solidFill>
                  <a:srgbClr val="00B050"/>
                </a:solidFill>
              </a:rPr>
              <a:t>고정비 </a:t>
            </a:r>
            <a:r>
              <a:rPr lang="en-US" altLang="ko-KR" sz="1600" dirty="0">
                <a:solidFill>
                  <a:srgbClr val="FF0000"/>
                </a:solidFill>
              </a:rPr>
              <a:t>B</a:t>
            </a:r>
          </a:p>
          <a:p>
            <a:r>
              <a:rPr lang="ko-KR" altLang="en-US" sz="1600" dirty="0" err="1">
                <a:solidFill>
                  <a:srgbClr val="00B050"/>
                </a:solidFill>
              </a:rPr>
              <a:t>감사비</a:t>
            </a:r>
            <a:r>
              <a:rPr lang="en-US" altLang="ko-KR" sz="1600" dirty="0">
                <a:solidFill>
                  <a:srgbClr val="00B050"/>
                </a:solidFill>
              </a:rPr>
              <a:t>(</a:t>
            </a:r>
            <a:r>
              <a:rPr lang="ko-KR" altLang="en-US" sz="1600" dirty="0">
                <a:solidFill>
                  <a:srgbClr val="00B050"/>
                </a:solidFill>
              </a:rPr>
              <a:t>보수비</a:t>
            </a:r>
            <a:r>
              <a:rPr lang="en-US" altLang="ko-KR" sz="1600" dirty="0">
                <a:solidFill>
                  <a:srgbClr val="00B050"/>
                </a:solidFill>
              </a:rPr>
              <a:t>):</a:t>
            </a:r>
            <a:r>
              <a:rPr lang="ko-KR" altLang="en-US" sz="1600" dirty="0">
                <a:solidFill>
                  <a:srgbClr val="00B050"/>
                </a:solidFill>
              </a:rPr>
              <a:t>불규칙 </a:t>
            </a:r>
            <a:r>
              <a:rPr lang="en-US" altLang="ko-KR" sz="1600" dirty="0">
                <a:solidFill>
                  <a:srgbClr val="FF0000"/>
                </a:solidFill>
              </a:rPr>
              <a:t>C</a:t>
            </a:r>
          </a:p>
          <a:p>
            <a:r>
              <a:rPr lang="ko-KR" altLang="en-US" sz="1600" dirty="0">
                <a:solidFill>
                  <a:srgbClr val="00B050"/>
                </a:solidFill>
              </a:rPr>
              <a:t>총비용</a:t>
            </a:r>
            <a:r>
              <a:rPr lang="en-US" altLang="ko-KR" sz="1600" dirty="0">
                <a:solidFill>
                  <a:srgbClr val="00B050"/>
                </a:solidFill>
              </a:rPr>
              <a:t>/</a:t>
            </a:r>
            <a:r>
              <a:rPr lang="ko-KR" altLang="en-US" sz="1600" dirty="0">
                <a:solidFill>
                  <a:srgbClr val="00B050"/>
                </a:solidFill>
              </a:rPr>
              <a:t>생산비용</a:t>
            </a:r>
            <a:r>
              <a:rPr lang="en-US" altLang="ko-KR" sz="1600" dirty="0">
                <a:solidFill>
                  <a:srgbClr val="00B050"/>
                </a:solidFill>
              </a:rPr>
              <a:t>=</a:t>
            </a:r>
            <a:r>
              <a:rPr lang="ko-KR" altLang="en-US" sz="1600" dirty="0">
                <a:solidFill>
                  <a:srgbClr val="00B050"/>
                </a:solidFill>
              </a:rPr>
              <a:t>평균비용 </a:t>
            </a:r>
          </a:p>
        </p:txBody>
      </p:sp>
    </p:spTree>
    <p:extLst>
      <p:ext uri="{BB962C8B-B14F-4D97-AF65-F5344CB8AC3E}">
        <p14:creationId xmlns:p14="http://schemas.microsoft.com/office/powerpoint/2010/main" val="2754910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891039-47E0-4D63-A50C-4B3FE8752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37D3C2-A8A6-4AED-9B5F-F297DD546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B6EDB17-9FEC-4530-AB0E-4CBF99281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9" y="0"/>
            <a:ext cx="120557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545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3F34C2-890D-4D5B-A876-25B9C5F2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5948AC-07EE-466E-A55B-055AC8DCE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0761A1A-AD75-49D1-B84C-9999305BE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7" y="423862"/>
            <a:ext cx="11896725" cy="601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625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F64E8C-AA5C-4E58-8BCD-AFCE17CE1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38A5D4-9066-460E-9E1A-F4C3E00AC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55EC70C-3F26-41BB-AFD8-0D3842F1B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45" y="0"/>
            <a:ext cx="118473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472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F4F1E-3B27-40A6-BCE1-C2B7BB931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82E98B-914E-41F3-BD46-0A607308C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922954B-4800-415C-A435-E35559487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" y="76200"/>
            <a:ext cx="12125325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550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11FE84-5164-4B98-A279-22E4EFB32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전형적인 비즈니스 프로세스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570EB9-AE64-4675-AAF6-0C5205649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9036A5E-DA26-45D3-8B01-BC529152C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695" y="2005330"/>
            <a:ext cx="954405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908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FEFD7A-C1D5-45D2-A78E-205FE6FC9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ERP </a:t>
            </a:r>
            <a:r>
              <a:rPr lang="ko-KR" altLang="en-US" dirty="0"/>
              <a:t>시스템이 지원하는 비즈니스 프로세스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010CB5-98EA-498A-927B-31C8D232A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293EEBC-3336-433B-B08C-B6CE1D8EF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440" y="1081088"/>
            <a:ext cx="5943600" cy="50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19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A31468-DD2F-4D50-A3EC-915B111CA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ERP </a:t>
            </a:r>
            <a:r>
              <a:rPr lang="ko-KR" altLang="en-US" dirty="0"/>
              <a:t>모듈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8AA27B-8FAD-4F70-BC97-2CF15935B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9156029-5BF5-4764-96E0-B787D14DB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56" y="1838642"/>
            <a:ext cx="10421654" cy="454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889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3490C2-A5E1-4598-B8AA-5A26EA2B9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모듈과 구축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6032EE-1E1E-4C97-A932-3A89239A4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기업들이 비즈니스 프로세스의 통합을 높이기 위해서는 많은 모듈을 </a:t>
            </a:r>
            <a:r>
              <a:rPr lang="ko-KR" altLang="en-US" dirty="0" err="1"/>
              <a:t>구현하는것이</a:t>
            </a:r>
            <a:r>
              <a:rPr lang="ko-KR" altLang="en-US" dirty="0"/>
              <a:t> </a:t>
            </a:r>
            <a:r>
              <a:rPr lang="ko-KR" altLang="en-US" dirty="0" err="1"/>
              <a:t>유리할수있다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이것은 궁극적으로 기업들에게 </a:t>
            </a:r>
            <a:r>
              <a:rPr lang="en-US" altLang="ko-KR" dirty="0"/>
              <a:t>ROI (Return on Investment)</a:t>
            </a:r>
            <a:r>
              <a:rPr lang="ko-KR" altLang="en-US" dirty="0"/>
              <a:t>를 </a:t>
            </a:r>
            <a:r>
              <a:rPr lang="ko-KR" altLang="en-US" dirty="0" err="1"/>
              <a:t>높힌다</a:t>
            </a:r>
            <a:endParaRPr lang="en-US" altLang="ko-KR" dirty="0"/>
          </a:p>
          <a:p>
            <a:r>
              <a:rPr lang="en-US" altLang="ko-KR" dirty="0"/>
              <a:t>ERP </a:t>
            </a:r>
            <a:r>
              <a:rPr lang="ko-KR" altLang="en-US" dirty="0"/>
              <a:t>구축 전략을 </a:t>
            </a:r>
            <a:r>
              <a:rPr lang="ko-KR" altLang="en-US" dirty="0" err="1"/>
              <a:t>결정할때</a:t>
            </a:r>
            <a:r>
              <a:rPr lang="ko-KR" altLang="en-US" dirty="0"/>
              <a:t> 많은 </a:t>
            </a:r>
            <a:r>
              <a:rPr lang="en-US" altLang="ko-KR" dirty="0"/>
              <a:t>ERP </a:t>
            </a:r>
            <a:r>
              <a:rPr lang="ko-KR" altLang="en-US" dirty="0"/>
              <a:t>모듈 구현은 </a:t>
            </a:r>
            <a:r>
              <a:rPr lang="en-US" altLang="ko-KR" dirty="0"/>
              <a:t>ERP </a:t>
            </a:r>
            <a:r>
              <a:rPr lang="ko-KR" altLang="en-US" dirty="0"/>
              <a:t>구현에 따른 조직의 자원에 대한 희생</a:t>
            </a:r>
            <a:r>
              <a:rPr lang="en-US" altLang="ko-KR" dirty="0"/>
              <a:t>(</a:t>
            </a:r>
            <a:r>
              <a:rPr lang="ko-KR" altLang="en-US" dirty="0"/>
              <a:t>다운사이징</a:t>
            </a:r>
            <a:r>
              <a:rPr lang="en-US" altLang="ko-KR" dirty="0"/>
              <a:t>)</a:t>
            </a:r>
            <a:r>
              <a:rPr lang="ko-KR" altLang="en-US" dirty="0"/>
              <a:t>과 높은 비용을 유발한다</a:t>
            </a:r>
            <a:r>
              <a:rPr lang="en-US" altLang="ko-KR"/>
              <a:t>.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681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A299E8-8C69-4D11-BB10-25A3FAC4A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모듈 특성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600574-A09D-45FB-B7DF-BBE26C725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핵심 </a:t>
            </a:r>
            <a:r>
              <a:rPr lang="en-US" altLang="ko-KR" dirty="0"/>
              <a:t>ERP</a:t>
            </a:r>
            <a:r>
              <a:rPr lang="ko-KR" altLang="en-US" dirty="0"/>
              <a:t>는 </a:t>
            </a:r>
            <a:r>
              <a:rPr lang="ko-KR" altLang="en-US" dirty="0" err="1"/>
              <a:t>재무모듈</a:t>
            </a:r>
            <a:r>
              <a:rPr lang="en-US" altLang="ko-KR" dirty="0"/>
              <a:t>, </a:t>
            </a:r>
            <a:r>
              <a:rPr lang="ko-KR" altLang="en-US" dirty="0"/>
              <a:t>인적자본관리 </a:t>
            </a:r>
            <a:r>
              <a:rPr lang="en-US" altLang="ko-KR" dirty="0"/>
              <a:t>HCM, </a:t>
            </a:r>
            <a:r>
              <a:rPr lang="ko-KR" altLang="en-US" dirty="0" err="1"/>
              <a:t>물류모듈을</a:t>
            </a:r>
            <a:r>
              <a:rPr lang="ko-KR" altLang="en-US" dirty="0"/>
              <a:t> 포함</a:t>
            </a:r>
            <a:endParaRPr lang="en-US" altLang="ko-KR" dirty="0"/>
          </a:p>
          <a:p>
            <a:r>
              <a:rPr lang="ko-KR" altLang="en-US" dirty="0"/>
              <a:t>이들 모듈은 실제로 다양한 하위 모듈을 포괄하는 제품군</a:t>
            </a:r>
            <a:endParaRPr lang="en-US" altLang="ko-KR" dirty="0"/>
          </a:p>
          <a:p>
            <a:r>
              <a:rPr lang="ko-KR" altLang="en-US" dirty="0" err="1"/>
              <a:t>예를들어</a:t>
            </a:r>
            <a:r>
              <a:rPr lang="en-US" altLang="ko-KR" dirty="0"/>
              <a:t>, </a:t>
            </a:r>
            <a:r>
              <a:rPr lang="ko-KR" altLang="en-US" dirty="0"/>
              <a:t>금융 제품군은 일반적으로 채권</a:t>
            </a:r>
            <a:r>
              <a:rPr lang="en-US" altLang="ko-KR" dirty="0"/>
              <a:t>, </a:t>
            </a:r>
            <a:r>
              <a:rPr lang="ko-KR" altLang="en-US" dirty="0"/>
              <a:t>지급 계정 및 총계정 원장에 대한 </a:t>
            </a:r>
            <a:r>
              <a:rPr lang="ko-KR" altLang="en-US" dirty="0" err="1"/>
              <a:t>하귀</a:t>
            </a:r>
            <a:r>
              <a:rPr lang="ko-KR" altLang="en-US" dirty="0"/>
              <a:t> 모듈을 포함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인적자본관리 제품군은 일반적으로 급여</a:t>
            </a:r>
            <a:r>
              <a:rPr lang="en-US" altLang="ko-KR" dirty="0"/>
              <a:t>, </a:t>
            </a:r>
            <a:r>
              <a:rPr lang="ko-KR" altLang="en-US" dirty="0"/>
              <a:t>인재관리</a:t>
            </a:r>
            <a:r>
              <a:rPr lang="en-US" altLang="ko-KR" dirty="0"/>
              <a:t>, </a:t>
            </a:r>
            <a:r>
              <a:rPr lang="ko-KR" altLang="en-US"/>
              <a:t>인사관리 서브 모듈을 포함</a:t>
            </a:r>
          </a:p>
        </p:txBody>
      </p:sp>
    </p:spTree>
    <p:extLst>
      <p:ext uri="{BB962C8B-B14F-4D97-AF65-F5344CB8AC3E}">
        <p14:creationId xmlns:p14="http://schemas.microsoft.com/office/powerpoint/2010/main" val="627071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6A976A-D948-4B5F-A995-E924BAD49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프런트 오피스와 백오피스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1075F4-4C12-422B-82B6-EBB79E561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ERP </a:t>
            </a:r>
            <a:r>
              <a:rPr lang="ko-KR" altLang="en-US" dirty="0"/>
              <a:t>시스템은 고객을 직접 대면하는 프런트 오피스 모듈 뿐만 아니라 공급사슬관리 지원 모듈을 포함하는 백 오피스 모듈로 많은 발전이 이루어졌다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고객관계관리 </a:t>
            </a:r>
            <a:r>
              <a:rPr lang="en-US" altLang="ko-KR" dirty="0"/>
              <a:t>CRM </a:t>
            </a:r>
            <a:r>
              <a:rPr lang="ko-KR" altLang="en-US" dirty="0"/>
              <a:t>및 공급사슬관리 </a:t>
            </a:r>
            <a:r>
              <a:rPr lang="en-US" altLang="ko-KR" dirty="0"/>
              <a:t>SCM </a:t>
            </a:r>
            <a:r>
              <a:rPr lang="ko-KR" altLang="en-US" dirty="0"/>
              <a:t>모듈이 </a:t>
            </a:r>
            <a:r>
              <a:rPr lang="en-US" altLang="ko-KR" dirty="0"/>
              <a:t>ERP </a:t>
            </a:r>
            <a:r>
              <a:rPr lang="ko-KR" altLang="en-US" dirty="0"/>
              <a:t>시스템의 구성 모듈이다</a:t>
            </a:r>
            <a:r>
              <a:rPr lang="en-US" altLang="ko-KR" dirty="0"/>
              <a:t>. </a:t>
            </a:r>
            <a:r>
              <a:rPr lang="ko-KR" altLang="en-US" dirty="0"/>
              <a:t>이를 확장형 </a:t>
            </a:r>
            <a:r>
              <a:rPr lang="en-US" altLang="ko-KR" dirty="0"/>
              <a:t>ERP</a:t>
            </a:r>
            <a:r>
              <a:rPr lang="ko-KR" altLang="en-US" dirty="0"/>
              <a:t>라고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확장형 </a:t>
            </a:r>
            <a:r>
              <a:rPr lang="en-US" altLang="ko-KR" dirty="0"/>
              <a:t>ERP (extended ERP)</a:t>
            </a:r>
            <a:r>
              <a:rPr lang="ko-KR" altLang="en-US" dirty="0"/>
              <a:t>에는 </a:t>
            </a:r>
            <a:r>
              <a:rPr lang="ko-KR" altLang="en-US" dirty="0" err="1"/>
              <a:t>애널리틱스</a:t>
            </a:r>
            <a:r>
              <a:rPr lang="en-US" altLang="ko-KR" dirty="0"/>
              <a:t>, </a:t>
            </a:r>
            <a:r>
              <a:rPr lang="ko-KR" altLang="en-US" dirty="0"/>
              <a:t>상품수명주기관리</a:t>
            </a:r>
            <a:r>
              <a:rPr lang="en-US" altLang="ko-KR" dirty="0"/>
              <a:t>, </a:t>
            </a:r>
            <a:r>
              <a:rPr lang="ko-KR" altLang="en-US" dirty="0"/>
              <a:t>비즈니스 성과관리 등 다양한 기능들이 포함되어 있다</a:t>
            </a:r>
            <a:r>
              <a:rPr lang="en-US" altLang="ko-KR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159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96E66F-928F-43A1-9291-6373482AA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ERP</a:t>
            </a:r>
            <a:r>
              <a:rPr lang="ko-KR" altLang="en-US" dirty="0"/>
              <a:t> 이용 특성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877750-8E43-4DCA-A64C-74BE09EC9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/>
              <a:t>비즈니스 전문가들은 최종 이용자</a:t>
            </a:r>
            <a:r>
              <a:rPr lang="en-US" altLang="ko-KR" dirty="0"/>
              <a:t>, </a:t>
            </a:r>
            <a:r>
              <a:rPr lang="ko-KR" altLang="en-US" dirty="0"/>
              <a:t>감사자</a:t>
            </a:r>
            <a:r>
              <a:rPr lang="en-US" altLang="ko-KR" dirty="0"/>
              <a:t>, </a:t>
            </a:r>
            <a:r>
              <a:rPr lang="ko-KR" altLang="en-US" dirty="0"/>
              <a:t>컨설턴트를 포함하는 다양한 </a:t>
            </a:r>
            <a:r>
              <a:rPr lang="en-US" altLang="ko-KR" dirty="0"/>
              <a:t>ERP </a:t>
            </a:r>
            <a:r>
              <a:rPr lang="ko-KR" altLang="en-US" dirty="0"/>
              <a:t>시스템 이용자들과 상호작용을 한다</a:t>
            </a:r>
            <a:endParaRPr lang="en-US" altLang="ko-KR" dirty="0"/>
          </a:p>
          <a:p>
            <a:r>
              <a:rPr lang="ko-KR" altLang="en-US" dirty="0"/>
              <a:t>재무감사자들 </a:t>
            </a:r>
            <a:r>
              <a:rPr lang="en-US" altLang="ko-KR" dirty="0"/>
              <a:t>Financial statement auditors</a:t>
            </a:r>
            <a:r>
              <a:rPr lang="ko-KR" altLang="en-US" dirty="0"/>
              <a:t>은 연간 재무감사를 위해 </a:t>
            </a:r>
            <a:r>
              <a:rPr lang="en-US" altLang="ko-KR" dirty="0"/>
              <a:t>ERP </a:t>
            </a:r>
            <a:r>
              <a:rPr lang="ko-KR" altLang="en-US" dirty="0"/>
              <a:t>시스템에 대한 이해가 필요하다</a:t>
            </a:r>
            <a:r>
              <a:rPr lang="en-US" altLang="ko-KR" dirty="0"/>
              <a:t>. </a:t>
            </a:r>
            <a:r>
              <a:rPr lang="ko-KR" altLang="en-US" dirty="0"/>
              <a:t>그들은 </a:t>
            </a:r>
            <a:r>
              <a:rPr lang="en-US" altLang="ko-KR" dirty="0"/>
              <a:t>ERP </a:t>
            </a:r>
            <a:r>
              <a:rPr lang="ko-KR" altLang="en-US" dirty="0"/>
              <a:t>시스템으로 손익계산서와 대차대조표를 포함한 </a:t>
            </a:r>
            <a:r>
              <a:rPr lang="ko-KR" altLang="en-US" dirty="0" err="1"/>
              <a:t>연간시산표</a:t>
            </a:r>
            <a:r>
              <a:rPr lang="en-US" altLang="ko-KR" dirty="0"/>
              <a:t>, </a:t>
            </a:r>
            <a:r>
              <a:rPr lang="ko-KR" altLang="en-US" dirty="0"/>
              <a:t>일반장부</a:t>
            </a:r>
            <a:r>
              <a:rPr lang="en-US" altLang="ko-KR" dirty="0"/>
              <a:t>, </a:t>
            </a:r>
            <a:r>
              <a:rPr lang="ko-KR" altLang="en-US" dirty="0"/>
              <a:t>그 밖에 다양한 회계자료를 습득한다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IT </a:t>
            </a:r>
            <a:r>
              <a:rPr lang="ko-KR" altLang="en-US" dirty="0"/>
              <a:t>감사자</a:t>
            </a:r>
            <a:r>
              <a:rPr lang="en-US" altLang="ko-KR" dirty="0"/>
              <a:t>(IT auditor)</a:t>
            </a:r>
            <a:r>
              <a:rPr lang="ko-KR" altLang="en-US" dirty="0"/>
              <a:t>는 정보시스템을 이용해 감사를 하는 부분에서 전문성을 가지고 있다</a:t>
            </a:r>
            <a:r>
              <a:rPr lang="en-US" altLang="ko-KR" dirty="0"/>
              <a:t>, ERP </a:t>
            </a:r>
            <a:r>
              <a:rPr lang="ko-KR" altLang="en-US" dirty="0"/>
              <a:t>시스템 애플리케이션은 데이터의 프라이버시</a:t>
            </a:r>
            <a:r>
              <a:rPr lang="en-US" altLang="ko-KR" dirty="0"/>
              <a:t>, </a:t>
            </a:r>
            <a:r>
              <a:rPr lang="ko-KR" altLang="en-US" dirty="0"/>
              <a:t>보안</a:t>
            </a:r>
            <a:r>
              <a:rPr lang="en-US" altLang="ko-KR" dirty="0"/>
              <a:t>, </a:t>
            </a:r>
            <a:r>
              <a:rPr lang="ko-KR" altLang="en-US" dirty="0"/>
              <a:t>완결성</a:t>
            </a:r>
            <a:r>
              <a:rPr lang="en-US" altLang="ko-KR" dirty="0"/>
              <a:t>, </a:t>
            </a:r>
            <a:r>
              <a:rPr lang="ko-KR" altLang="en-US" dirty="0"/>
              <a:t>신뢰성</a:t>
            </a:r>
            <a:r>
              <a:rPr lang="en-US" altLang="ko-KR" dirty="0"/>
              <a:t>, </a:t>
            </a:r>
            <a:r>
              <a:rPr lang="ko-KR" altLang="en-US" dirty="0"/>
              <a:t>정확성을 위한 유지관리 기능이 포함되어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IT </a:t>
            </a:r>
            <a:r>
              <a:rPr lang="ko-KR" altLang="en-US" dirty="0"/>
              <a:t>감사자들은 데이터에 대한 물리적 통제</a:t>
            </a:r>
            <a:r>
              <a:rPr lang="en-US" altLang="ko-KR" dirty="0"/>
              <a:t>, ERP </a:t>
            </a:r>
            <a:r>
              <a:rPr lang="ko-KR" altLang="en-US" dirty="0"/>
              <a:t>서버에 대한 통제</a:t>
            </a:r>
            <a:r>
              <a:rPr lang="en-US" altLang="ko-KR" dirty="0"/>
              <a:t>, ERP </a:t>
            </a:r>
            <a:r>
              <a:rPr lang="ko-KR" altLang="en-US" dirty="0"/>
              <a:t>시스템 인증에 대한 통제까지도 수행한다</a:t>
            </a:r>
            <a:r>
              <a:rPr lang="en-US" altLang="ko-KR"/>
              <a:t>.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3028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96E66F-928F-43A1-9291-6373482AA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ABAP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877750-8E43-4DCA-A64C-74BE09EC9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SAP ERP </a:t>
            </a:r>
            <a:r>
              <a:rPr lang="ko-KR" altLang="en-US" dirty="0"/>
              <a:t>구현을 위한 프로그래밍 언어를 </a:t>
            </a:r>
            <a:r>
              <a:rPr lang="en-US" altLang="ko-KR" dirty="0"/>
              <a:t>ABAP (advanced</a:t>
            </a:r>
            <a:r>
              <a:rPr lang="ko-KR" altLang="en-US" dirty="0"/>
              <a:t> </a:t>
            </a:r>
            <a:r>
              <a:rPr lang="en-US" altLang="ko-KR" dirty="0"/>
              <a:t>Business Application Programming)</a:t>
            </a:r>
            <a:r>
              <a:rPr lang="ko-KR" altLang="en-US" dirty="0"/>
              <a:t>라고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5958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96E66F-928F-43A1-9291-6373482AA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메인프레임 아키텍처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877750-8E43-4DCA-A64C-74BE09EC9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레거시 시스템 </a:t>
            </a:r>
            <a:r>
              <a:rPr lang="en-US" altLang="ko-KR" dirty="0"/>
              <a:t>legacy systems, </a:t>
            </a:r>
            <a:r>
              <a:rPr lang="ko-KR" altLang="en-US" dirty="0" err="1"/>
              <a:t>다른말로</a:t>
            </a:r>
            <a:r>
              <a:rPr lang="ko-KR" altLang="en-US" dirty="0"/>
              <a:t> 시스템 사이의 상호작용이 쉽지 않았던 과거의 정보시스템이다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리거시</a:t>
            </a:r>
            <a:r>
              <a:rPr lang="ko-KR" altLang="en-US" dirty="0"/>
              <a:t> 시스템은 현업에서 일반적인 된 베스트 </a:t>
            </a:r>
            <a:r>
              <a:rPr lang="ko-KR" altLang="en-US" dirty="0" err="1"/>
              <a:t>프랙티스</a:t>
            </a:r>
            <a:r>
              <a:rPr lang="ko-KR" altLang="en-US" dirty="0"/>
              <a:t> </a:t>
            </a:r>
            <a:r>
              <a:rPr lang="en-US" altLang="ko-KR" dirty="0"/>
              <a:t>best practices</a:t>
            </a:r>
            <a:r>
              <a:rPr lang="ko-KR" altLang="en-US" dirty="0"/>
              <a:t>에 기반 교차 기능 </a:t>
            </a:r>
            <a:r>
              <a:rPr lang="en-US" altLang="ko-KR" dirty="0"/>
              <a:t>cross-functional</a:t>
            </a:r>
            <a:r>
              <a:rPr lang="ko-KR" altLang="en-US" dirty="0"/>
              <a:t>을 제공하지 않고</a:t>
            </a:r>
            <a:r>
              <a:rPr lang="en-US" altLang="ko-KR" dirty="0"/>
              <a:t>, </a:t>
            </a:r>
            <a:r>
              <a:rPr lang="ko-KR" altLang="en-US" dirty="0"/>
              <a:t>반대로 특정 기능 영역에 초점을 맞춘 </a:t>
            </a:r>
            <a:r>
              <a:rPr lang="ko-KR" altLang="en-US" dirty="0" err="1"/>
              <a:t>스토프</a:t>
            </a:r>
            <a:r>
              <a:rPr lang="en-US" altLang="ko-KR" dirty="0"/>
              <a:t>-</a:t>
            </a:r>
            <a:r>
              <a:rPr lang="ko-KR" altLang="en-US" dirty="0"/>
              <a:t>파이프 </a:t>
            </a:r>
            <a:r>
              <a:rPr lang="en-US" altLang="ko-KR" dirty="0"/>
              <a:t>stove-piped</a:t>
            </a:r>
            <a:r>
              <a:rPr lang="ko-KR" altLang="en-US" dirty="0"/>
              <a:t>시스템이다</a:t>
            </a:r>
            <a:endParaRPr lang="en-US" altLang="ko-KR" dirty="0"/>
          </a:p>
          <a:p>
            <a:r>
              <a:rPr lang="ko-KR" altLang="en-US" dirty="0" err="1"/>
              <a:t>예를들어</a:t>
            </a:r>
            <a:r>
              <a:rPr lang="en-US" altLang="ko-KR" dirty="0"/>
              <a:t>, </a:t>
            </a:r>
            <a:r>
              <a:rPr lang="ko-KR" altLang="en-US" dirty="0"/>
              <a:t>판매 시스템은 회계 시스템과 상호작용을 </a:t>
            </a:r>
            <a:r>
              <a:rPr lang="ko-KR" altLang="en-US" dirty="0" err="1"/>
              <a:t>할수없기때문에</a:t>
            </a:r>
            <a:r>
              <a:rPr lang="ko-KR" altLang="en-US" dirty="0"/>
              <a:t> 주문결재 과정이 </a:t>
            </a:r>
            <a:r>
              <a:rPr lang="ko-KR" altLang="en-US" dirty="0" err="1"/>
              <a:t>분리되어있다</a:t>
            </a:r>
            <a:r>
              <a:rPr lang="en-US" altLang="ko-KR" dirty="0"/>
              <a:t>. </a:t>
            </a:r>
            <a:r>
              <a:rPr lang="ko-KR" altLang="en-US" dirty="0"/>
              <a:t>게다가</a:t>
            </a:r>
            <a:r>
              <a:rPr lang="en-US" altLang="ko-KR" dirty="0"/>
              <a:t>, </a:t>
            </a:r>
            <a:r>
              <a:rPr lang="ko-KR" altLang="en-US" dirty="0"/>
              <a:t>두 시스템 모두에 고객정보를 입력하므로</a:t>
            </a:r>
            <a:r>
              <a:rPr lang="en-US" altLang="ko-KR" dirty="0"/>
              <a:t>, </a:t>
            </a:r>
            <a:r>
              <a:rPr lang="ko-KR" altLang="en-US" dirty="0"/>
              <a:t>데이터의 중복 및 불일치를 야기한다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224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4300</TotalTime>
  <Words>463</Words>
  <Application>Microsoft Office PowerPoint</Application>
  <PresentationFormat>와이드스크린</PresentationFormat>
  <Paragraphs>41</Paragraphs>
  <Slides>16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Arial</vt:lpstr>
      <vt:lpstr>맑은 고딕</vt:lpstr>
      <vt:lpstr>Office 테마</vt:lpstr>
      <vt:lpstr>통합정보자원관리를 위한 ERP 시스템</vt:lpstr>
      <vt:lpstr>ERP 시스템 정의</vt:lpstr>
      <vt:lpstr> </vt:lpstr>
      <vt:lpstr>PowerPoint 프레젠테이션</vt:lpstr>
      <vt:lpstr>PowerPoint 프레젠테이션</vt:lpstr>
      <vt:lpstr>PowerPoint 프레젠테이션</vt:lpstr>
      <vt:lpstr>PowerPoint 프레젠테이션</vt:lpstr>
      <vt:lpstr>전형적인 비즈니스 프로세스</vt:lpstr>
      <vt:lpstr>ERP 시스템이 지원하는 비즈니스 프로세스</vt:lpstr>
      <vt:lpstr>ERP 모듈</vt:lpstr>
      <vt:lpstr>모듈과 구축</vt:lpstr>
      <vt:lpstr>모듈 특성</vt:lpstr>
      <vt:lpstr>프런트 오피스와 백오피스</vt:lpstr>
      <vt:lpstr>ERP 이용 특성</vt:lpstr>
      <vt:lpstr>ABAP</vt:lpstr>
      <vt:lpstr>메인프레임 아키텍처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통합정보자원관리를 위한 ERP 시스템</dc:title>
  <dc:creator>김 이준</dc:creator>
  <cp:lastModifiedBy>김 이준</cp:lastModifiedBy>
  <cp:revision>81</cp:revision>
  <dcterms:created xsi:type="dcterms:W3CDTF">2020-04-13T12:26:19Z</dcterms:created>
  <dcterms:modified xsi:type="dcterms:W3CDTF">2020-04-16T12:10:50Z</dcterms:modified>
</cp:coreProperties>
</file>